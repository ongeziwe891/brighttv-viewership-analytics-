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544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2A3D8F">
              <a:alpha val="50000"/>
            </a:srgbClr>
          </a:solidFill>
          <a:ln w="12700">
            <a:solidFill>
              <a:srgbClr val="2A3D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BrightTV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Analytics &amp; Subscription Growth Strategy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611880"/>
            <a:ext cx="18288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to help the CVM team grow BrightTV's subscription base this financial year.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A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5897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CEO &amp; CVM Team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5669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A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5897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Apr 2016  |  20 min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16459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objective &amp; dataset overview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029968"/>
            <a:ext cx="10881360" cy="0"/>
          </a:xfrm>
          <a:prstGeom prst="line">
            <a:avLst/>
          </a:prstGeom>
          <a:noFill/>
          <a:ln w="6350">
            <a:solidFill>
              <a:srgbClr val="EEF0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640080" y="208483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463040" y="2130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Usage Trends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450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 and when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10881360" cy="0"/>
          </a:xfrm>
          <a:prstGeom prst="line">
            <a:avLst/>
          </a:prstGeom>
          <a:noFill/>
          <a:ln w="6350">
            <a:solidFill>
              <a:srgbClr val="EEF0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40080" y="279806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463040" y="28437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Consumption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1638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time, geography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456432"/>
            <a:ext cx="10881360" cy="0"/>
          </a:xfrm>
          <a:prstGeom prst="line">
            <a:avLst/>
          </a:prstGeom>
          <a:noFill/>
          <a:ln w="6350">
            <a:solidFill>
              <a:srgbClr val="EEF0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40080" y="351129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463040" y="35570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387705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low-consumption days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169664"/>
            <a:ext cx="10881360" cy="0"/>
          </a:xfrm>
          <a:prstGeom prst="line">
            <a:avLst/>
          </a:prstGeom>
          <a:noFill/>
          <a:ln w="6350">
            <a:solidFill>
              <a:srgbClr val="EEF0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40080" y="42245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463040" y="4270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45902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subscriber base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882896"/>
            <a:ext cx="10881360" cy="0"/>
          </a:xfrm>
          <a:prstGeom prst="line">
            <a:avLst/>
          </a:prstGeom>
          <a:noFill/>
          <a:ln w="6350">
            <a:solidFill>
              <a:srgbClr val="EEF0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640080" y="49377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46304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5303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the CVM team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596128"/>
            <a:ext cx="10881360" cy="0"/>
          </a:xfrm>
          <a:prstGeom prst="line">
            <a:avLst/>
          </a:prstGeom>
          <a:noFill/>
          <a:ln w="6350">
            <a:solidFill>
              <a:srgbClr val="EEF0F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|  Viewership Analytics — CVM Strategy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17352" y="6537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16459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the subscriber base — what the data tells 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669280" cy="48463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37160" cy="4846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BrightTV's subscription base this financial year.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BrightTV CEO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137160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822960" y="4754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role: surface insights from the viewership data that help the CVM team prioritise where to invest, what to programme, and which audiences to target.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577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44652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5,375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46520" y="20848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 in dataset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612880" y="1737360"/>
            <a:ext cx="109728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6263640" y="2606040"/>
            <a:ext cx="5577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446520" y="2697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10,989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46520" y="33192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transactions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612880" y="2971800"/>
            <a:ext cx="109728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6263640" y="3840480"/>
            <a:ext cx="5577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44652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2016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46520" y="45537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Apr observation window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612880" y="4206240"/>
            <a:ext cx="109728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6263640" y="5074920"/>
            <a:ext cx="5577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6446520" y="5166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prov.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446520" y="57881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coverage (ZA)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612880" y="5440680"/>
            <a:ext cx="109728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|  Viewership Analytics — CVM Strategy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17352" y="6537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16459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USAGE TRENDS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snapshot of who is watching BrightTV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7432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audience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700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Skews heavily male — only 10% female after cleaning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137160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273552" y="137160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410712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25-34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10712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age group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0712" y="26700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1,894 users (35% of base) — prime ad demographic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137160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6181344" y="1371600"/>
            <a:ext cx="27432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318504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18504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Gauteng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8504" y="26700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largest provincial concentration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89136" y="137160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9089136" y="137160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9226296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12-21h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226296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26296" y="26700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of all views fall between noon and 9pm</a:t>
            </a:r>
            <a:endParaRPr lang="en-US" sz="1000" dirty="0"/>
          </a:p>
        </p:txBody>
      </p:sp>
      <p:pic>
        <p:nvPicPr>
          <p:cNvPr id="27" name="Image 0" descr="/tmp/charts/top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11880"/>
            <a:ext cx="5760720" cy="2926080"/>
          </a:xfrm>
          <a:prstGeom prst="rect">
            <a:avLst/>
          </a:prstGeom>
        </p:spPr>
      </p:pic>
      <p:pic>
        <p:nvPicPr>
          <p:cNvPr id="28" name="Image 1" descr="/tmp/charts/hour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611880"/>
            <a:ext cx="5486400" cy="292608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6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|  Viewership Analytics — CVM Strategy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817352" y="6537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16459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CONSUMPTION — PART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consuming the most content?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tmp/charts/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3840480" cy="2834640"/>
          </a:xfrm>
          <a:prstGeom prst="rect">
            <a:avLst/>
          </a:prstGeom>
        </p:spPr>
      </p:pic>
      <p:pic>
        <p:nvPicPr>
          <p:cNvPr id="8" name="Image 1" descr="/tmp/charts/ge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280160"/>
            <a:ext cx="3383280" cy="2834640"/>
          </a:xfrm>
          <a:prstGeom prst="rect">
            <a:avLst/>
          </a:prstGeom>
        </p:spPr>
      </p:pic>
      <p:pic>
        <p:nvPicPr>
          <p:cNvPr id="9" name="Image 2" descr="/tmp/charts/r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280160"/>
            <a:ext cx="4114800" cy="28346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65760" y="4297680"/>
            <a:ext cx="11475720" cy="2194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6"/>
          <p:cNvSpPr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4800600"/>
            <a:ext cx="54864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8"/>
          <p:cNvSpPr/>
          <p:nvPr/>
        </p:nvSpPr>
        <p:spPr>
          <a:xfrm>
            <a:off x="685800" y="4754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25-34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85800" y="5074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 — anchor monetisation strategy here.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383280" y="4800600"/>
            <a:ext cx="54864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1"/>
          <p:cNvSpPr/>
          <p:nvPr/>
        </p:nvSpPr>
        <p:spPr>
          <a:xfrm>
            <a:off x="3520440" y="4754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520440" y="5074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 large (1,044 users) — kids content is a real lever.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17920" y="4800600"/>
            <a:ext cx="54864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4"/>
          <p:cNvSpPr/>
          <p:nvPr/>
        </p:nvSpPr>
        <p:spPr>
          <a:xfrm>
            <a:off x="6355080" y="4754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skew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55080" y="5074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male — female acquisition is an untapped growth pool.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52560" y="4800600"/>
            <a:ext cx="54864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17"/>
          <p:cNvSpPr/>
          <p:nvPr/>
        </p:nvSpPr>
        <p:spPr>
          <a:xfrm>
            <a:off x="9189720" y="4754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&amp; Indian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9189720" y="5074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largest race segments — culturally relevant content matters.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|  Viewership Analytics — CVM Strategy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817352" y="6537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16459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CONSUMPTION — 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and where consumption happens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tmp/charts/timebu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5486400" cy="2743200"/>
          </a:xfrm>
          <a:prstGeom prst="rect">
            <a:avLst/>
          </a:prstGeom>
        </p:spPr>
      </p:pic>
      <p:pic>
        <p:nvPicPr>
          <p:cNvPr id="8" name="Image 1" descr="/tmp/charts/provi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280160"/>
            <a:ext cx="5760720" cy="2743200"/>
          </a:xfrm>
          <a:prstGeom prst="rect">
            <a:avLst/>
          </a:prstGeom>
        </p:spPr>
      </p:pic>
      <p:pic>
        <p:nvPicPr>
          <p:cNvPr id="9" name="Image 2" descr="/tmp/charts/dayofwee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60520"/>
            <a:ext cx="6858000" cy="23317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406640" y="4160520"/>
            <a:ext cx="4434840" cy="23317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6"/>
          <p:cNvSpPr/>
          <p:nvPr/>
        </p:nvSpPr>
        <p:spPr>
          <a:xfrm>
            <a:off x="7406640" y="4160520"/>
            <a:ext cx="91440" cy="2331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7"/>
          <p:cNvSpPr/>
          <p:nvPr/>
        </p:nvSpPr>
        <p:spPr>
          <a:xfrm>
            <a:off x="7589520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is shaped by: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7589520" y="46634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of day — afternoon &amp; evening dominate (61% of views).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7589520" y="5074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of week — Mon &amp; Tue are the weakest days.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589520" y="54864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Geography — Gauteng &amp; Western Cape drive 46% of users.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589520" y="58978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Genre — sport and music videos lead engagement.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|  Viewership Analytics — CVM Strategy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817352" y="6537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16459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Mondays and Tuesdays under-perform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/tmp/charts/dayofw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594360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92240" y="1280160"/>
            <a:ext cx="53492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667512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0" y="169164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 is ~43% smaller than Friday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75120" y="260604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957 views on Mondays vs 1,675 on Fridays. Tuesdays sit just above at 1,322. The early week is where BrightTV is bleeding watch-time — and where new programming will move the needle fastest.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4343400"/>
            <a:ext cx="11475720" cy="21488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TO LIFT MON–TUE CONSUMPTION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937760"/>
            <a:ext cx="2651760" cy="141732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2"/>
          <p:cNvSpPr/>
          <p:nvPr/>
        </p:nvSpPr>
        <p:spPr>
          <a:xfrm>
            <a:off x="548640" y="4937760"/>
            <a:ext cx="2651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/>
          <p:nvPr/>
        </p:nvSpPr>
        <p:spPr>
          <a:xfrm>
            <a:off x="685800" y="5029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53492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Night football &amp; cricket re-runs — sport already #1 by views.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364992" y="4937760"/>
            <a:ext cx="2651760" cy="141732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6"/>
          <p:cNvSpPr/>
          <p:nvPr/>
        </p:nvSpPr>
        <p:spPr>
          <a:xfrm>
            <a:off x="3364992" y="4937760"/>
            <a:ext cx="2651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3502152" y="5029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&amp; Drama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02152" y="53492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African Magic / M-Net originals on Mon–Tue evenings.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81344" y="4937760"/>
            <a:ext cx="2651760" cy="141732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0"/>
          <p:cNvSpPr/>
          <p:nvPr/>
        </p:nvSpPr>
        <p:spPr>
          <a:xfrm>
            <a:off x="6181344" y="4937760"/>
            <a:ext cx="2651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1"/>
          <p:cNvSpPr/>
          <p:nvPr/>
        </p:nvSpPr>
        <p:spPr>
          <a:xfrm>
            <a:off x="6318504" y="5029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Block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318504" y="53492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Cartoon Network &amp; Boomerang marathons 15h–18h to capture &lt;18 audience.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997696" y="4937760"/>
            <a:ext cx="2651760" cy="141732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4"/>
          <p:cNvSpPr/>
          <p:nvPr/>
        </p:nvSpPr>
        <p:spPr>
          <a:xfrm>
            <a:off x="8997696" y="4937760"/>
            <a:ext cx="2651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5"/>
          <p:cNvSpPr/>
          <p:nvPr/>
        </p:nvSpPr>
        <p:spPr>
          <a:xfrm>
            <a:off x="9134856" y="5029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Top 40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134856" y="53492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 / Channel O countdowns — high engagement, low cost.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8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|  Viewership Analytics — CVM Strategy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817352" y="6537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16459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weekly schedule built from the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158191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93392" y="1280160"/>
            <a:ext cx="158191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993392" y="128016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21024" y="1280160"/>
            <a:ext cx="1581912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621024" y="128016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48656" y="1280160"/>
            <a:ext cx="1581912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5248656" y="128016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76288" y="1280160"/>
            <a:ext cx="1581912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6876288" y="128016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1280160"/>
            <a:ext cx="1581912" cy="45720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8503920" y="128016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131552" y="1280160"/>
            <a:ext cx="1581912" cy="45720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10131552" y="128016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178308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38912" y="182880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8912" y="20574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Kids: Boomerang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93392" y="178308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2066544" y="182880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66544" y="20574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Kids: Cartoon Net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21024" y="178308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3694176" y="182880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94176" y="20574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World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48656" y="178308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5321808" y="182880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21808" y="20574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World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76288" y="178308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6949440" y="182880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49440" y="20574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0" y="178308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8577072" y="182880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77072" y="20574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Highlights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131552" y="178308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10204704" y="182880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204704" y="20574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/ Family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274320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438912" y="278892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8912" y="30175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993392" y="274320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2066544" y="278892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066544" y="30175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21024" y="274320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3694176" y="278892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694176" y="30175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Magic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48656" y="274320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/>
          <p:nvPr/>
        </p:nvSpPr>
        <p:spPr>
          <a:xfrm>
            <a:off x="5321808" y="278892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21808" y="30175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Magic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76288" y="274320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/>
          <p:nvPr/>
        </p:nvSpPr>
        <p:spPr>
          <a:xfrm>
            <a:off x="6949440" y="278892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949440" y="30175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503920" y="274320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8577072" y="278892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577072" y="30175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131552" y="274320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10204704" y="278892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0204704" y="301752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65760" y="3703320"/>
            <a:ext cx="1581912" cy="914400"/>
          </a:xfrm>
          <a:prstGeom prst="rect">
            <a:avLst/>
          </a:prstGeom>
          <a:solidFill>
            <a:srgbClr val="FFF3E0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4" name="Shape 62"/>
          <p:cNvSpPr/>
          <p:nvPr/>
        </p:nvSpPr>
        <p:spPr>
          <a:xfrm>
            <a:off x="365760" y="3703320"/>
            <a:ext cx="1581912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5" name="Text 63"/>
          <p:cNvSpPr/>
          <p:nvPr/>
        </p:nvSpPr>
        <p:spPr>
          <a:xfrm>
            <a:off x="438912" y="374904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38912" y="397764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MNF Sport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38912" y="4416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993392" y="3703320"/>
            <a:ext cx="1581912" cy="914400"/>
          </a:xfrm>
          <a:prstGeom prst="rect">
            <a:avLst/>
          </a:prstGeom>
          <a:solidFill>
            <a:srgbClr val="FFF3E0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9" name="Shape 67"/>
          <p:cNvSpPr/>
          <p:nvPr/>
        </p:nvSpPr>
        <p:spPr>
          <a:xfrm>
            <a:off x="1993392" y="3703320"/>
            <a:ext cx="1581912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0" name="Text 68"/>
          <p:cNvSpPr/>
          <p:nvPr/>
        </p:nvSpPr>
        <p:spPr>
          <a:xfrm>
            <a:off x="2066544" y="374904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2066544" y="397764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Premiere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066544" y="4416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3621024" y="370332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4" name="Text 72"/>
          <p:cNvSpPr/>
          <p:nvPr/>
        </p:nvSpPr>
        <p:spPr>
          <a:xfrm>
            <a:off x="3694176" y="374904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694176" y="397764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Top 40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248656" y="370332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7" name="Text 75"/>
          <p:cNvSpPr/>
          <p:nvPr/>
        </p:nvSpPr>
        <p:spPr>
          <a:xfrm>
            <a:off x="5321808" y="374904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321808" y="397764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TV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876288" y="370332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0" name="Text 78"/>
          <p:cNvSpPr/>
          <p:nvPr/>
        </p:nvSpPr>
        <p:spPr>
          <a:xfrm>
            <a:off x="6949440" y="374904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949440" y="397764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Night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503920" y="370332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3" name="Text 81"/>
          <p:cNvSpPr/>
          <p:nvPr/>
        </p:nvSpPr>
        <p:spPr>
          <a:xfrm>
            <a:off x="8577072" y="374904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8577072" y="397764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0131552" y="370332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6" name="Text 84"/>
          <p:cNvSpPr/>
          <p:nvPr/>
        </p:nvSpPr>
        <p:spPr>
          <a:xfrm>
            <a:off x="10204704" y="374904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0204704" y="397764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Movie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65760" y="466344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9" name="Text 87"/>
          <p:cNvSpPr/>
          <p:nvPr/>
        </p:nvSpPr>
        <p:spPr>
          <a:xfrm>
            <a:off x="438912" y="47091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38912" y="49377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993392" y="466344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2" name="Text 90"/>
          <p:cNvSpPr/>
          <p:nvPr/>
        </p:nvSpPr>
        <p:spPr>
          <a:xfrm>
            <a:off x="2066544" y="47091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2066544" y="49377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E! Late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621024" y="466344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5" name="Text 93"/>
          <p:cNvSpPr/>
          <p:nvPr/>
        </p:nvSpPr>
        <p:spPr>
          <a:xfrm>
            <a:off x="3694176" y="47091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694176" y="49377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Movies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248656" y="466344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8" name="Text 96"/>
          <p:cNvSpPr/>
          <p:nvPr/>
        </p:nvSpPr>
        <p:spPr>
          <a:xfrm>
            <a:off x="5321808" y="47091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321808" y="49377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Movies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876288" y="466344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1" name="Text 99"/>
          <p:cNvSpPr/>
          <p:nvPr/>
        </p:nvSpPr>
        <p:spPr>
          <a:xfrm>
            <a:off x="6949440" y="47091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6949440" y="49377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503920" y="466344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4" name="Text 102"/>
          <p:cNvSpPr/>
          <p:nvPr/>
        </p:nvSpPr>
        <p:spPr>
          <a:xfrm>
            <a:off x="8577072" y="47091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8577072" y="49377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Concerts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0131552" y="4663440"/>
            <a:ext cx="1581912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7" name="Text 105"/>
          <p:cNvSpPr/>
          <p:nvPr/>
        </p:nvSpPr>
        <p:spPr>
          <a:xfrm>
            <a:off x="10204704" y="47091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10204704" y="493776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365760" y="5989320"/>
            <a:ext cx="182880" cy="182880"/>
          </a:xfrm>
          <a:prstGeom prst="rect">
            <a:avLst/>
          </a:prstGeom>
          <a:solidFill>
            <a:srgbClr val="FFF3E0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0" name="Text 108"/>
          <p:cNvSpPr/>
          <p:nvPr/>
        </p:nvSpPr>
        <p:spPr>
          <a:xfrm>
            <a:off x="64008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programming targeting Mon–Tue uplift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2" name="Text 110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|  Viewership Analytics — CVM Strategy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10817352" y="6537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16459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INFLUENCES CONSUMPTION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forces shaping BrightTV viewership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1475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09728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68580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14813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153619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(34%) &amp; Evening (27%) dominate. Midnight viewing still material at 17%.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11475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10972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685800" y="2514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68580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2441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249631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Fri–Sat are peaks (30%); Mon–Tue troughs (-30% vs Fri).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11475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109728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685800" y="34747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685800" y="3456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34015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345643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25-34 = 35% of users. Under-18s a strong second segment.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11475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109728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685800" y="4434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85800" y="4416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17320" y="43616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749040" y="441655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+ Western Cape = 46% of base. Other 7 provinces under-served.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5212080"/>
            <a:ext cx="11475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365760" y="5212080"/>
            <a:ext cx="109728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685800" y="53949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685800" y="5376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417320" y="5321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749040" y="537667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Sport, kids and music videos drive &gt;60% of all views.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|  Viewership Analytics — CVM Strategy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17352" y="6537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16459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bets to grow the BrightTV subscriber base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66928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ACQUIRE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Female-First Campaign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are 10% of the base. Run a female-led acquisition push (lifestyle, drama, telenovelas, beauty) backed by influencer partnerships. Target: +15% female sign-ups in 6 months.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56692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EXPAND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Province Penetration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Cape, Free State and North West make up &lt;10% of users combined. Bundle deals with regional ISPs and local-language content (isiXhosa, Sesotho, Afrikaans).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566928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9436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ENGAGE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5262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Kids &amp; Family Tier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50749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1,044 under-18 users signal real demand. Launch a Family bundle (Cartoon Network, Boomerang, edutainment) priced for households — reduces churn by widening account use.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3886200"/>
            <a:ext cx="5669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6172200" y="3886200"/>
            <a:ext cx="56692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4008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RETAIN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5262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 Super-Fan Bundle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0" y="50749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(SuperSport, ICC) drives 28% of all views. Build a premium sport tier with exclusive live rights and second-screen stats — the highest willingness-to-pay segment.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|  Viewership Analytics — CVM Strategy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17352" y="6537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16459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execution roadmap for the CVM team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1005840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2651760" y="370332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0–30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371600" y="2286000"/>
            <a:ext cx="2926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150876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insights with full-year data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 audiences in CRM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0876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Brief content &amp; marketing teams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370332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2926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Mon–Tue programming refresh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Soft-launch female acquisition campaign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 family bundle pricing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18320" y="370332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813816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3816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138160" y="2286000"/>
            <a:ext cx="29260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827532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 out province expansion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Activate sport super-fan tier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7532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Measure: subs, watch-hours, churn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389120"/>
            <a:ext cx="11475720" cy="210312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937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+12%</a:t>
            </a:r>
            <a:endParaRPr lang="en-US" sz="3800" dirty="0"/>
          </a:p>
        </p:txBody>
      </p:sp>
      <p:sp>
        <p:nvSpPr>
          <p:cNvPr id="32" name="Shape 30"/>
          <p:cNvSpPr/>
          <p:nvPr/>
        </p:nvSpPr>
        <p:spPr>
          <a:xfrm>
            <a:off x="548640" y="5760720"/>
            <a:ext cx="365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548640" y="5852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subscribers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37560" y="4937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+25%</a:t>
            </a:r>
            <a:endParaRPr lang="en-US" sz="3800" dirty="0"/>
          </a:p>
        </p:txBody>
      </p:sp>
      <p:sp>
        <p:nvSpPr>
          <p:cNvPr id="35" name="Shape 33"/>
          <p:cNvSpPr/>
          <p:nvPr/>
        </p:nvSpPr>
        <p:spPr>
          <a:xfrm>
            <a:off x="3337560" y="5760720"/>
            <a:ext cx="365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3337560" y="5852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Mon–Tue watch hours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26480" y="4937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+15%</a:t>
            </a:r>
            <a:endParaRPr lang="en-US" sz="3800" dirty="0"/>
          </a:p>
        </p:txBody>
      </p:sp>
      <p:sp>
        <p:nvSpPr>
          <p:cNvPr id="38" name="Shape 36"/>
          <p:cNvSpPr/>
          <p:nvPr/>
        </p:nvSpPr>
        <p:spPr>
          <a:xfrm>
            <a:off x="6126480" y="5760720"/>
            <a:ext cx="365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6126480" y="5852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sign-ups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15400" y="4937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-8%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915400" y="5760720"/>
            <a:ext cx="36576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8915400" y="5852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churn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|  Viewership Analytics — CVM Strategy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817352" y="65379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2A3D8F">
              <a:alpha val="50000"/>
            </a:srgbClr>
          </a:solidFill>
          <a:ln w="12700">
            <a:solidFill>
              <a:srgbClr val="2A3D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grow BrightTV.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challenges and ideas welcome.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CVM Team  •  BrightTV  •  2016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1092</Words>
  <Application>Microsoft Office PowerPoint</Application>
  <PresentationFormat>Widescreen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CVM Insights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— Viewership Analytics</dc:title>
  <dc:subject>PptxGenJS Presentation</dc:subject>
  <dc:creator>PptxGenJS</dc:creator>
  <cp:lastModifiedBy>Ongeziwe Maduna</cp:lastModifiedBy>
  <cp:revision>1</cp:revision>
  <dcterms:created xsi:type="dcterms:W3CDTF">2026-04-17T13:09:31Z</dcterms:created>
  <dcterms:modified xsi:type="dcterms:W3CDTF">2026-04-17T13:12:51Z</dcterms:modified>
</cp:coreProperties>
</file>